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696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和大家一起深入探讨一个极具挑战性的哲学与方法论课题：“非公理”。我们将从对公理体系的经典理解出发，剖析传统定义“非公理”时所面临的困境，并最终提出一个全新的、基于“生态对立”的视角来理解和构建这一概念。这不仅是一次理论探讨，更是一次关于思维方式、认知边界和方法论创新的深度探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本次分享将分为两个章节。第一章，我们将探讨“非公理”是否可以被定义，并分析各种定义尝试的困境。第二章，我们将深入探讨非公理与公理的对立关系，引入“生态定义”的概念，并提出具体的构建方法。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理解“非公理”，我们必须先理解它的对立面——公理体系。公理体系有四个标志性侧面：预设公理、预设推理规则、一致性判断和完备性判断。这四个方面共同构成了一个完整的逻辑框架，也是我们后续讨论“非公理”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直观的定义非公理的方法，就是简单地反向定义：“不需要预设”。这就是所谓的“信念路线”。它通过引入信念值来摆脱僵化的预设，但问题在于，信念值的更新本身又需要一套预设的计算规则。因此，这种方法并没有真正脱离公理体系，只是它的一个变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找到真正的对立，我们需要区分两种怀疑路线。路线A是对具体公理体系的怀疑，比如用非欧几何取代欧氏几何，这是在体系内的修正。而路线B，是对公理方法本身的怀疑，它质疑的是“从预设出发进行推理”这一整套思维模式。我们需要的是路线B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上一页的辨析有助于我们看清“信念路线”的本质。它的核心——信念计算规则，本质上还是预设推理规则的一种。所以，它并不是公理的对立面，而只是公理体系的一个子集。这就像“白马非马”的谬误，争论的是马的颜色，而不是马本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既然“信念路线”走不通，我们该如何寻找通用方法的对立面？找补集是行不通的，因为补集依然是方法。真正的对立，应该是彻底拒绝任何预设的通用方法。这听起来可能像虚无主义，但并非如此。一个不接受任何方法的系统，其特征可以通过与公理方法的对比来分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回顾公理体系的历史，我们可以看到，无论是罗素悖论引发的对一致性的修正，还是哥德尔不完备定理揭示的内在局限，都是在体系内部进行的自我完善。这告诉我们，非公理不能在这个“理想方法集”内部寻找，而必须彻底站到它的外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综合以上分析，我们可以给出“非公理”在方法层面的核心定义：它就是不接受任何预设的通用方法。这个定义是“否定性”的，但它为我们指明了方向。我们可以通过与公理体系四个侧面的对立，反向推导出非公理体系应有的特征，比如动态生成前提和规则，容忍矛盾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进入第二章，我们将探讨如何具体构建非公理与公理的对立关系。这引出了三个核心问题：我们应该采用传统定义还是生态定义？这种对立在哲学版图中处于什么位置？以及，我们如何围绕这种对立建立具体的方法和工具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传统上，我们有三种方法来构建对立概念：形式逻辑求否、黑格尔辩证法和实用主义外部引入。但它们都有各自的局限性。形式逻辑求否不够灵活，辩证法依赖内部矛盾，实用主义则带有偶然性。因此，我们需要一种更系统的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此，我们提出“生态定义”策略。它不追求一次性的完美定义，而是构建一个包含所有相关理论的“范式生态”，并通过一个“范式管理工具”来系统地管理这些理论。这种方法兼具系统性和开放性，能让我们更智能地探索“非公理”的内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“公理与非公理”的对立在哲学版图中处于什么位置？我们发现，它与“逻辑与荒谬”的对立是相互独立的。这意味着它们可以两两组合，产生四个全新的理论方向，比如“非公理+逻辑”可以帮助我们分析非公理的本质特征。这为我们打开了巨大的理论空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如何建立方法呢？我们可以分为两个层级。第一层级是完善“范式管理工具”这个工具箱。第二层级是利用这个工具，进行具体的对立生态建设。这整个过程，最终需要借助计算机工具来自动化、系统化地完成，这就是“庞杂系统”的设计初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范式管理工具的设计是核心。它主要包括方法解释和信息记录两部分。方法解释部分负责将各种哲学方法转化为系统可理解的格式，而信息记录部分则负责记录运行过程中的关键信息。此外，运行时引擎还需要具备隔离、解释、追踪等关键功能，采用自举架构，支持人机交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从公理体系的四个侧面出发，分析了朴素对立的失败，明确了对公理通用方法的根本性怀疑，从而提出了“非公理”的核心定义。接着，我们引入了生态定义的方法，明确了其哲学定位，并提出了具体的实施框架。最终，我们的所有探讨都指向一个宏伟蓝图：构建一个非公理推理引擎，也就是“庞杂系统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10" Type="http://schemas.openxmlformats.org/officeDocument/2006/relationships/image" Target="../media/image2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jpeg"/><Relationship Id="rId7" Type="http://schemas.openxmlformats.org/officeDocument/2006/relationships/image" Target="../media/image21.sv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7.svg"/><Relationship Id="rId10" Type="http://schemas.openxmlformats.org/officeDocument/2006/relationships/image" Target="../media/image24.png"/><Relationship Id="rId4" Type="http://schemas.openxmlformats.org/officeDocument/2006/relationships/image" Target="../media/image6.png"/><Relationship Id="rId9" Type="http://schemas.openxmlformats.org/officeDocument/2006/relationships/image" Target="../media/image2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23.svg"/><Relationship Id="rId10" Type="http://schemas.openxmlformats.org/officeDocument/2006/relationships/image" Target="../media/image2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jpe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7.svg"/><Relationship Id="rId10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3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.jpe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7.svg"/><Relationship Id="rId10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3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.jpeg"/><Relationship Id="rId7" Type="http://schemas.openxmlformats.org/officeDocument/2006/relationships/image" Target="../media/image42.sv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11" Type="http://schemas.openxmlformats.org/officeDocument/2006/relationships/image" Target="../media/image46.svg"/><Relationship Id="rId5" Type="http://schemas.openxmlformats.org/officeDocument/2006/relationships/image" Target="../media/image40.sv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.jpeg"/><Relationship Id="rId7" Type="http://schemas.openxmlformats.org/officeDocument/2006/relationships/image" Target="../media/image50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svg"/><Relationship Id="rId10" Type="http://schemas.openxmlformats.org/officeDocument/2006/relationships/image" Target="../media/image2.png"/><Relationship Id="rId4" Type="http://schemas.openxmlformats.org/officeDocument/2006/relationships/image" Target="../media/image47.png"/><Relationship Id="rId9" Type="http://schemas.openxmlformats.org/officeDocument/2006/relationships/image" Target="../media/image5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E558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非公理的诸多侧面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4191000"/>
            <a:ext cx="1270000" cy="25400"/>
          </a:xfrm>
          <a:prstGeom prst="roundRect">
            <a:avLst>
              <a:gd name="adj" fmla="val 0"/>
            </a:avLst>
          </a:prstGeom>
          <a:solidFill>
            <a:srgbClr val="B0CEED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0F8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从定义困境到生态对立的探索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84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讲者</a:t>
            </a:r>
            <a:r>
              <a:rPr lang="zh-CN" altLang="en-US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altLang="zh-CN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WFW</a:t>
            </a:r>
            <a:r>
              <a:rPr lang="zh-CN" altLang="en-US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俱乐部</a:t>
            </a:r>
            <a:r>
              <a:rPr lang="en-US" altLang="zh-CN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 日期：2026年6</a:t>
            </a:r>
            <a:endParaRPr lang="en-US" sz="11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97CBD94-8923-FC04-2D3F-38432BCED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40" y="407258"/>
            <a:ext cx="601962" cy="620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EBF5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2A0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ADD8E6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3302000"/>
          </a:xfrm>
          <a:prstGeom prst="roundRect">
            <a:avLst>
              <a:gd name="adj" fmla="val 0"/>
            </a:avLst>
          </a:prstGeom>
          <a:solidFill>
            <a:srgbClr val="0052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79500" y="2286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A0"/>
                </a:solidFill>
                <a:latin typeface="Noto Sans SC"/>
                <a:ea typeface="Noto Sans SC"/>
                <a:cs typeface="Noto Sans SC"/>
                <a:sym typeface="Noto Sans SC"/>
              </a:rPr>
              <a:t>01. 非公理是否无法被定义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549">
            <a:off x="1079509" y="3041650"/>
            <a:ext cx="457201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DD8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79500" y="3302000"/>
            <a:ext cx="457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本章旨在解决一个根本性问题：我们能否，以及如何，为“非公理”下一个有效的定义？我们将从公理体系的基本特征出发，逐一剖析各种定义尝试的失败，并最终找到一条可行的定义路径，为后续探讨奠定理论基石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223000" y="2032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ADD8E6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23000" y="2032000"/>
            <a:ext cx="76200" cy="3302000"/>
          </a:xfrm>
          <a:prstGeom prst="roundRect">
            <a:avLst>
              <a:gd name="adj" fmla="val 0"/>
            </a:avLst>
          </a:prstGeom>
          <a:solidFill>
            <a:srgbClr val="448C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540500" y="2286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A0"/>
                </a:solidFill>
                <a:latin typeface="Noto Sans SC"/>
                <a:ea typeface="Noto Sans SC"/>
                <a:cs typeface="Noto Sans SC"/>
                <a:sym typeface="Noto Sans SC"/>
              </a:rPr>
              <a:t>02. 非公理与公理的对立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549">
            <a:off x="6540509" y="3041650"/>
            <a:ext cx="457201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DD8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540500" y="3302000"/>
            <a:ext cx="457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本章将探讨非公理与公理之间对立关系的本质。我们将引入“生态定义”的概念，重新定位这种对立在哲学版图中的位置，分析其动态演化过程，并最终提出一个构建这种对立关系、理解其相互作用的具体方法论和实用工具框架。</a:t>
            </a:r>
            <a:endParaRPr lang="en-US" sz="11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CEC69D1-304D-DF78-EB31-FE83CAB4C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2500" y="338862"/>
            <a:ext cx="601962" cy="6208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EBF5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公理体系的四个标志性侧面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要理解“</a:t>
            </a:r>
            <a:r>
              <a:rPr lang="en-US" sz="15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非公理</a:t>
            </a:r>
            <a:r>
              <a:rPr lang="en-US" sz="15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5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我们必须首先清晰地把握其对立面</a:t>
            </a:r>
            <a:r>
              <a:rPr lang="en-US" sz="15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——“</a:t>
            </a:r>
            <a:r>
              <a:rPr lang="en-US" sz="15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公理体系</a:t>
            </a:r>
            <a:r>
              <a:rPr lang="en-US" sz="15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”——</a:t>
            </a:r>
            <a:r>
              <a:rPr lang="en-US" sz="15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的核心特征。公理体系并非单一概念，而是由四个相互关联的侧面共同构成的一个完整框架</a:t>
            </a:r>
            <a:r>
              <a:rPr lang="en-US" sz="15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343150"/>
            <a:ext cx="10668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6035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DBEAFE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603500"/>
            <a:ext cx="76200" cy="1651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7686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27305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5597"/>
                </a:solidFill>
                <a:latin typeface="Noto Sans SC"/>
                <a:ea typeface="Noto Sans SC"/>
                <a:cs typeface="Noto Sans SC"/>
                <a:sym typeface="Noto Sans SC"/>
              </a:rPr>
              <a:t>01. 预设公理 (Axioms)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167">
            <a:off x="1016008" y="3295650"/>
            <a:ext cx="476251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34290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公理体系的起点是一组不证自明、无需证明的基本前提或假设，是整个逻辑大厦的基石。例如欧几里得几何中“两点之间直线最短”这一经典假设。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6350000" y="26035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DBEAFE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350000" y="2603500"/>
            <a:ext cx="76200" cy="1651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2768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048500" y="27305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5597"/>
                </a:solidFill>
                <a:latin typeface="Noto Sans SC"/>
                <a:ea typeface="Noto Sans SC"/>
                <a:cs typeface="Noto Sans SC"/>
                <a:sym typeface="Noto Sans SC"/>
              </a:rPr>
              <a:t>02. 预设推理规则 (Inference Rules)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167">
            <a:off x="6604008" y="3295650"/>
            <a:ext cx="476251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604000" y="34290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仅有公理不足以构建体系，还需要一套明确的规则来指导如何从公理推导出其他命题（定理）。这套规则确立了体系内逻辑推演的标准范式与路径。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572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DBEAFE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62000" y="4572000"/>
            <a:ext cx="76200" cy="1651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7371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460500" y="46990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5597"/>
                </a:solidFill>
                <a:latin typeface="Noto Sans SC"/>
                <a:ea typeface="Noto Sans SC"/>
                <a:cs typeface="Noto Sans SC"/>
                <a:sym typeface="Noto Sans SC"/>
              </a:rPr>
              <a:t>03. 一致性判断 (Consistency)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167">
            <a:off x="1016008" y="5264150"/>
            <a:ext cx="476251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1016000" y="53975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一个健全的公理体系必须保证其内部逻辑自洽，不会推导出相互矛盾的结论。一致性是对公理体系最基础、也是最不可妥协的逻辑要求。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4572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DBEAFE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350000" y="4572000"/>
            <a:ext cx="76200" cy="1651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47371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048500" y="46990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5597"/>
                </a:solidFill>
                <a:latin typeface="Noto Sans SC"/>
                <a:ea typeface="Noto Sans SC"/>
                <a:cs typeface="Noto Sans SC"/>
                <a:sym typeface="Noto Sans SC"/>
              </a:rPr>
              <a:t>04. 完备性判断 (Completeness)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9167">
            <a:off x="6604008" y="5264150"/>
            <a:ext cx="476251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604000" y="53975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完备性意味着体系范围内所有真实命题都应可被证明。哥德尔不完备定理揭示，对足够复杂的形式系统，完备性与一致性无法同时完美达成。</a:t>
            </a:r>
            <a:endParaRPr lang="en-US" sz="110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5085C8FB-186C-4650-ED26-D588982A3BE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12500" y="338862"/>
            <a:ext cx="601962" cy="620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EBF5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060A0"/>
                </a:solidFill>
                <a:latin typeface="Noto Sans SC"/>
                <a:ea typeface="Noto Sans SC"/>
                <a:cs typeface="Noto Sans SC"/>
                <a:sym typeface="Noto Sans SC"/>
              </a:rPr>
              <a:t>朴素对立的困境——信念路线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DBEAFE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016000"/>
          </a:xfrm>
          <a:prstGeom prst="roundRect">
            <a:avLst>
              <a:gd name="adj" fmla="val 0"/>
            </a:avLst>
          </a:prstGeom>
          <a:solidFill>
            <a:srgbClr val="2060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29333D"/>
                </a:solidFill>
                <a:latin typeface="Noto Sans SC"/>
                <a:ea typeface="Noto Sans SC"/>
                <a:cs typeface="Noto Sans SC"/>
                <a:sym typeface="Noto Sans SC"/>
              </a:rPr>
              <a:t>最直观的定义尝试是“反向”定义：公理需要预设，那么非公理就“不需要预设”。这条看似直接的路径被称为“信念路线”，但它试图通过“无预设”构建体系，却陷入了难以规避的逻辑闭环。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0F9FF">
              <a:alpha val="95000"/>
            </a:srgbClr>
          </a:solidFill>
          <a:ln w="12700" cap="flat" cmpd="sng">
            <a:solidFill>
              <a:srgbClr val="2060A0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365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32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060A0"/>
                </a:solidFill>
                <a:latin typeface="Noto Sans SC"/>
                <a:ea typeface="Noto Sans SC"/>
                <a:cs typeface="Noto Sans SC"/>
                <a:sym typeface="Noto Sans SC"/>
              </a:rPr>
              <a:t>朴素对立的逻辑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323">
            <a:off x="952513" y="38671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060A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4064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既然公理体系的核心是“预设”，那么非公理体系的核心自然被定义为“无预设”或“反预设”。这是一种基于二元对立的直觉推导，试图从对立面寻找突破口。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3175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0F9FF">
              <a:alpha val="95000"/>
            </a:srgbClr>
          </a:solidFill>
          <a:ln w="12700" cap="flat" cmpd="sng">
            <a:solidFill>
              <a:srgbClr val="2060A0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0" y="3365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016500" y="332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060A0"/>
                </a:solidFill>
                <a:latin typeface="Noto Sans SC"/>
                <a:ea typeface="Noto Sans SC"/>
                <a:cs typeface="Noto Sans SC"/>
                <a:sym typeface="Noto Sans SC"/>
              </a:rPr>
              <a:t>信念置信度的引入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323">
            <a:off x="4572013" y="38671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060A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572000" y="4064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为摆脱绝对预设，系统引入“信念值”描述命题的可信程度。命题不再非真即假，而是随新信息动态更新置信度，试图以此构建灵活的非公理系统。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01000" y="3175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0F9FF">
              <a:alpha val="95000"/>
            </a:srgbClr>
          </a:solidFill>
          <a:ln w="12700" cap="flat" cmpd="sng">
            <a:solidFill>
              <a:srgbClr val="2060A0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91500" y="3365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636000" y="332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2060A0"/>
                </a:solidFill>
                <a:latin typeface="Noto Sans SC"/>
                <a:ea typeface="Noto Sans SC"/>
                <a:cs typeface="Noto Sans SC"/>
                <a:sym typeface="Noto Sans SC"/>
              </a:rPr>
              <a:t>规则的隐性回归</a:t>
            </a:r>
            <a:endParaRPr lang="en-US" sz="1100" dirty="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8191513" y="38671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060A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91500" y="4064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信念值的计算与更新无法自发完成，必须引入预设的“信念计算规则”。这套规则无论形式如何，本质仍是另一套公理式的推理预设，并未真正跳出公理体系。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588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DBEAF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16000" y="571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2060A0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sz="1400" b="0" i="0" u="none" strike="noStrike">
                <a:solidFill>
                  <a:srgbClr val="29333D"/>
                </a:solidFill>
                <a:latin typeface="Noto Sans SC"/>
                <a:ea typeface="Noto Sans SC"/>
                <a:cs typeface="Noto Sans SC"/>
                <a:sym typeface="Noto Sans SC"/>
              </a:rPr>
              <a:t>信念路线看似与公理体系截然对立，实则只是公理体系在认识论上的延伸和特定变种。它并没有实现真正的“无预设”，只是将预设从命题层面转移到了规则层面。</a:t>
            </a:r>
            <a:endParaRPr lang="en-US" sz="110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F2E79B9-0615-E050-EE49-D038A85AA9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12500" y="338862"/>
            <a:ext cx="601962" cy="620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EFF6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两种怀疑路线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为了找到真正的对立，我们需要辨析对公理体系的“怀疑”究竟指向何方。存在两种截然不同的怀疑路线，只有跳出体系的根本性批判，才是我们需要探索的方向。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533650"/>
            <a:ext cx="10668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794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DBEAFE">
              <a:alpha val="9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76200" cy="21590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29210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路线 A：对具体的公理体系的怀疑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167">
            <a:off x="1016008" y="3422650"/>
            <a:ext cx="476251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556000"/>
            <a:ext cx="476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这是“在体系内”的修正与替换，即不认同某个特定公理（如欧氏几何平行公设），并试图构建新体系（如非欧几何）。案例上，NARS系统虽名“非公理”，本质仍是用一套基于经验的规则，替换了经典逻辑的公理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159500" y="2794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3B82F6">
              <a:alpha val="9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159500" y="2794000"/>
            <a:ext cx="76200" cy="2159000"/>
          </a:xfrm>
          <a:prstGeom prst="roundRect">
            <a:avLst>
              <a:gd name="adj" fmla="val 0"/>
            </a:avLst>
          </a:prstGeom>
          <a:solidFill>
            <a:srgbClr val="1E40A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13500" y="29210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路线 B：对公理体系的通用方法的怀疑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167">
            <a:off x="6413508" y="3422650"/>
            <a:ext cx="476251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DBFE">
                <a:alpha val="8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13500" y="3556000"/>
            <a:ext cx="476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FF6FF"/>
                </a:solidFill>
                <a:latin typeface="Noto Sans SC"/>
                <a:ea typeface="Noto Sans SC"/>
                <a:cs typeface="Noto Sans SC"/>
                <a:sym typeface="Noto Sans SC"/>
              </a:rPr>
              <a:t>这是“跳出体系外”的根本性批判，指向“从预设出发、按固定规则推理”的整套思维模式。它不再纠结具体公理内容，而是质疑“使用公理”这一行为本身，是否是认知世界的唯一或最优方式。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334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DBEAFE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5524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5486400"/>
            <a:ext cx="977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关键辨析：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路线 A 是“白马非马”式的谬误，并未触动公理方法的根基；而路线 B 才是真正需要探索的方向，它要求我们彻底反思“公理思维”的适用性边界。</a:t>
            </a:r>
            <a:endParaRPr lang="en-US" sz="110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58A43DE-A21C-E5B5-D371-2C40DAE3CA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12500" y="338862"/>
            <a:ext cx="601962" cy="6208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EBF5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F5496"/>
                </a:solidFill>
                <a:latin typeface="Noto Sans SC"/>
                <a:ea typeface="Noto Sans SC"/>
                <a:cs typeface="Noto Sans SC"/>
                <a:sym typeface="Noto Sans SC"/>
              </a:rPr>
              <a:t>白马非马——信念路线的本质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D9E5F5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889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52600"/>
            <a:ext cx="10160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“信念路线”看似在体系之外，实际上仍在体系之中，它并没有跳出预设规则的框架，是逻辑学中“白马非马”谬误的典型体现。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9BC2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238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200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5496"/>
                </a:solidFill>
                <a:latin typeface="Noto Sans SC"/>
                <a:ea typeface="Noto Sans SC"/>
                <a:cs typeface="Noto Sans SC"/>
                <a:sym typeface="Noto Sans SC"/>
              </a:rPr>
              <a:t>信念计算的本质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323">
            <a:off x="952513" y="38036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DD7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3937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任何信念系统都需要一套计算规则来更新信念值。这套规则无论设计多么精巧，其本质都属于我们定义的“预设推理规则”范畴。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3048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9BC2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0" y="3238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016500" y="3200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5496"/>
                </a:solidFill>
                <a:latin typeface="Noto Sans SC"/>
                <a:ea typeface="Noto Sans SC"/>
                <a:cs typeface="Noto Sans SC"/>
                <a:sym typeface="Noto Sans SC"/>
              </a:rPr>
              <a:t>通用方法的子集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323">
            <a:off x="4572013" y="38036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DD7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572000" y="3937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所谓的“非公理系统”，其核心计算部分本质上是公理体系通用方法集的一个子集。它仅侧重不确定性处理，并未抛弃“预设规则”这一根本。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01000" y="3048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9BC2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91500" y="3238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636000" y="3200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5496"/>
                </a:solidFill>
                <a:latin typeface="Noto Sans SC"/>
                <a:ea typeface="Noto Sans SC"/>
                <a:cs typeface="Noto Sans SC"/>
                <a:sym typeface="Noto Sans SC"/>
              </a:rPr>
              <a:t>并非公理的对立面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8191513" y="38036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DD7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91500" y="3937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“非公理”不是公理的对立面，而是公理体系大家族中的一员。正如“白马非马”的诡辩，争论颜色而非本质，它依然属于“马”的范畴。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461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D9E5F5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56134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397000" y="5588000"/>
            <a:ext cx="977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1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“这就像一个人试图逃离一座监狱，他尝试了不同的房间，甚至找到了一些松动的栏杆，但他从未真正走出监狱的围墙。”</a:t>
            </a:r>
            <a:endParaRPr lang="en-US" sz="110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D4C7453F-E3CC-881C-C9DF-28A13899AF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12500" y="338862"/>
            <a:ext cx="601962" cy="6208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EBF5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969B0"/>
                </a:solidFill>
                <a:latin typeface="Noto Sans SC"/>
                <a:ea typeface="Noto Sans SC"/>
                <a:cs typeface="Noto Sans SC"/>
                <a:sym typeface="Noto Sans SC"/>
              </a:rPr>
              <a:t>寻找通用方法的对立面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DBEAFE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778000"/>
            <a:ext cx="1028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既然“信念路线”走不通，我们必须重新思考：通用方法的真正对立面是什么？是现有方法的补集，还是对“方法”本身的根本否定？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BFDBFE">
              <a:alpha val="9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3048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尝试一：补集思路（此路不通）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929">
            <a:off x="952508" y="3549650"/>
            <a:ext cx="488951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683000"/>
            <a:ext cx="488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思路误区：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认为对立面是“所有未被发现的通用方法”这一补集。但这本质上仍是在“方法”的范畴内打转，只是扩充了方法的边界，并未触及“对立”的本质。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86500" y="2921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DBEAFE">
              <a:alpha val="9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3048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替代思路：彻底拒绝通用方法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8929">
            <a:off x="6477008" y="3549650"/>
            <a:ext cx="488951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3683000"/>
            <a:ext cx="488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核心突破：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真正的对立是构建“不接受任何预设方法”的集合。这并非虚无主义，而是通过与公理方法（追求确定性）的对比，揭示出拥抱不确定性、非预设性的系统特征。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334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76200" cy="1079500"/>
          </a:xfrm>
          <a:prstGeom prst="roundRect">
            <a:avLst>
              <a:gd name="adj" fmla="val 0"/>
            </a:avLst>
          </a:prstGeom>
          <a:solidFill>
            <a:srgbClr val="1E40A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5461000"/>
            <a:ext cx="1016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初步定义浮现：</a:t>
            </a:r>
            <a:r>
              <a:rPr lang="en-US" sz="15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非公理方法的核心特征，并非寻找新的通用法则，而是</a:t>
            </a:r>
            <a:r>
              <a:rPr lang="en-US" sz="15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从根本上不接受任何预设的、普适的通用方法</a:t>
            </a:r>
            <a:r>
              <a:rPr lang="en-US" sz="15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，转而在具体语境中动态构建和演化。</a:t>
            </a:r>
            <a:endParaRPr lang="en-US" sz="110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074DC8D-B0F8-C9E5-6B57-4B97AEA45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2500" y="338862"/>
            <a:ext cx="601962" cy="6208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E6F0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C53A6"/>
                </a:solidFill>
                <a:latin typeface="Noto Sans SC"/>
                <a:ea typeface="Noto Sans SC"/>
                <a:cs typeface="Noto Sans SC"/>
                <a:sym typeface="Noto Sans SC"/>
              </a:rPr>
              <a:t>从一致性与完备性得到的启示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D6E6FC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889000"/>
          </a:xfrm>
          <a:prstGeom prst="roundRect">
            <a:avLst>
              <a:gd name="adj" fmla="val 0"/>
            </a:avLst>
          </a:prstGeom>
          <a:solidFill>
            <a:srgbClr val="4D89D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587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283C64"/>
                </a:solidFill>
                <a:latin typeface="Noto Sans SC"/>
                <a:ea typeface="Noto Sans SC"/>
                <a:cs typeface="Noto Sans SC"/>
                <a:sym typeface="Noto Sans SC"/>
              </a:rPr>
              <a:t>对公理体系自身历史的回顾，可以为我们寻找“对立面”提供重要启示。公理体系一直在通过自我批判和补充，不断逼近一个“理想方法集”，这一过程揭示了其内在的发展逻辑与局限。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EBF5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 rot="5378514">
            <a:off x="800080" y="3994190"/>
            <a:ext cx="203204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D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943100" y="2921000"/>
            <a:ext cx="28575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1C53A6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sz="1800" b="1" i="0" u="none" strike="noStrike" dirty="0" err="1">
                <a:solidFill>
                  <a:srgbClr val="1C53A6"/>
                </a:solidFill>
                <a:latin typeface="Noto Sans SC"/>
                <a:ea typeface="Noto Sans SC"/>
                <a:cs typeface="Noto Sans SC"/>
                <a:sym typeface="Noto Sans SC"/>
              </a:rPr>
              <a:t>朴素集合论的“一致性”危机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32466E"/>
                </a:solidFill>
                <a:latin typeface="Noto Sans SC"/>
                <a:ea typeface="Noto Sans SC"/>
                <a:cs typeface="Noto Sans SC"/>
                <a:sym typeface="Noto Sans SC"/>
              </a:rPr>
              <a:t>罗素悖论的出现，暴露了朴素集合论在基础定义上的漏洞。这促使数学家引入ZFC公理系统等严格规范，试图在体系内部修补“一致性”的缺陷，向“理想方法集”迈进。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86500" y="2794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EBF5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13"/>
          <p:cNvCxnSpPr/>
          <p:nvPr/>
        </p:nvCxnSpPr>
        <p:spPr>
          <a:xfrm rot="5378514">
            <a:off x="6470630" y="3994190"/>
            <a:ext cx="203204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D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7613650" y="2921000"/>
            <a:ext cx="2794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C53A6"/>
                </a:solidFill>
                <a:latin typeface="Noto Sans SC"/>
                <a:ea typeface="Noto Sans SC"/>
                <a:cs typeface="Noto Sans SC"/>
                <a:sym typeface="Noto Sans SC"/>
              </a:rPr>
              <a:t>02. 哥德尔不完备定理的终极揭示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32466E"/>
                </a:solidFill>
                <a:latin typeface="Noto Sans SC"/>
                <a:ea typeface="Noto Sans SC"/>
                <a:cs typeface="Noto Sans SC"/>
                <a:sym typeface="Noto Sans SC"/>
              </a:rPr>
              <a:t>哥德尔证明了任何足够强大的形式系统，都无法同时保证一致性与完备性。这一结论打破了“理想方法集”可以完美自洽的幻想，揭示了公理体系在“完备性”上不可逾越的内在局限。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143264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5562600"/>
            <a:ext cx="1016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结论：非公理要做的，不是在这个不断扩张的“理想方法集”里寻找它的补集，而是要</a:t>
            </a:r>
            <a:r>
              <a:rPr lang="en-US" sz="1500" b="1" i="0" u="none" strike="noStrike">
                <a:solidFill>
                  <a:srgbClr val="FFE566"/>
                </a:solidFill>
                <a:latin typeface="Noto Sans SC"/>
                <a:ea typeface="Noto Sans SC"/>
                <a:cs typeface="Noto Sans SC"/>
                <a:sym typeface="Noto Sans SC"/>
              </a:rPr>
              <a:t>彻底站到它的外面</a:t>
            </a:r>
            <a:r>
              <a:rPr lang="en-US" sz="15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，以全新的视角构建知识与推理的框架。</a:t>
            </a:r>
            <a:endParaRPr lang="en-US" sz="110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B6E6B3D-39FF-ADA3-2911-BFFAB9517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2500" y="338862"/>
            <a:ext cx="601962" cy="6208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EBF5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F5496"/>
                </a:solidFill>
                <a:latin typeface="Noto Sans SC"/>
                <a:ea typeface="Noto Sans SC"/>
                <a:cs typeface="Noto Sans SC"/>
                <a:sym typeface="Noto Sans SC"/>
              </a:rPr>
              <a:t>非公理在方法上的定义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D6E6F8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14500"/>
            <a:ext cx="1016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2F5496"/>
                </a:solidFill>
                <a:latin typeface="Noto Sans SC"/>
                <a:ea typeface="Noto Sans SC"/>
                <a:cs typeface="Noto Sans SC"/>
                <a:sym typeface="Noto Sans SC"/>
              </a:rPr>
              <a:t>“非公理，就是不接受任何预设的通用方法。”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这是一个“否定性”的定义，它首先明确了非公理“不是”什么，从而为我们理解其本质特征划定了清晰的边界。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3429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365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32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549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关键限定：“任何”的所指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323">
            <a:off x="952513" y="38671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4064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“任何”特指公理体系所追求的、具备确定性、一致性和完备性的理想通用方法集。非公理否定的是这种绝对化的预设，而非所有方法本身。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5000" y="3175000"/>
            <a:ext cx="3429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3365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080000" y="332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5496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构建策略：对立与反向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323">
            <a:off x="4635513" y="38671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35500" y="4064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从公理体系的标志性侧面出发，利用对立关系反向推导。我们将公理体系抛出的“绳索”作为参照，去勾勒非公理体系的轮廓。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3175000"/>
            <a:ext cx="3429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500" y="3365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332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5496"/>
                </a:solidFill>
                <a:latin typeface="Noto Sans SC"/>
                <a:ea typeface="Noto Sans SC"/>
                <a:cs typeface="Noto Sans SC"/>
                <a:sym typeface="Noto Sans SC"/>
              </a:rPr>
              <a:t>特征映射：从公理到非公理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8318513" y="38671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18500" y="4064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从预设前提转向动态生成，从固定规则转向演化规则；容忍矛盾而非追求绝对一致，接受局部不完备而非强求全局完备。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6515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D6E6F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16000" y="5778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1" u="none" strike="noStrike">
                <a:solidFill>
                  <a:srgbClr val="2F5496"/>
                </a:solidFill>
                <a:latin typeface="Noto Sans SC"/>
                <a:ea typeface="Noto Sans SC"/>
                <a:cs typeface="Noto Sans SC"/>
                <a:sym typeface="Noto Sans SC"/>
              </a:rPr>
              <a:t>“这就像在黑暗的洞穴中，我们通过触摸洞壁（公理体系），来感知洞穴的轮廓和我们自身所处的位置。”</a:t>
            </a:r>
            <a:endParaRPr lang="en-US" sz="110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8D0C1069-1298-F6AA-91A2-368C4A7D1F2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12500" y="338862"/>
            <a:ext cx="601962" cy="6208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EBF5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第二章：非公理与公理的对立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DEEBF7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778000"/>
            <a:ext cx="1028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292F36"/>
                </a:solidFill>
                <a:latin typeface="Noto Sans SC"/>
                <a:ea typeface="Noto Sans SC"/>
                <a:cs typeface="Noto Sans SC"/>
                <a:sym typeface="Noto Sans SC"/>
              </a:rPr>
              <a:t>在确立了“非公理”的基本定义后，我们将进一步探讨如何具体地理解和构建它与公理体系的对立关系。这不仅是理论层面的思辨，更是方法论构建的核心起点。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D0E0F2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238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3200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4E79"/>
                </a:solidFill>
                <a:latin typeface="Noto Sans SC"/>
                <a:ea typeface="Noto Sans SC"/>
                <a:cs typeface="Noto Sans SC"/>
                <a:sym typeface="Noto Sans SC"/>
              </a:rPr>
              <a:t>01. 传统定义 vs 生态定义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323">
            <a:off x="952513" y="37401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472C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3937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292F36"/>
                </a:solidFill>
                <a:latin typeface="Noto Sans SC"/>
                <a:ea typeface="Noto Sans SC"/>
                <a:cs typeface="Noto Sans SC"/>
                <a:sym typeface="Noto Sans SC"/>
              </a:rPr>
              <a:t>在“非公理”定义模糊且难以直接构建的情况下，我们能否跳出传统的精确界定，转而用一种强调关联与互动的“生态对立”视角来重新审视和定义它？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3048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BDD7EE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0" y="3238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16500" y="3200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9375A"/>
                </a:solidFill>
                <a:latin typeface="Noto Sans SC"/>
                <a:ea typeface="Noto Sans SC"/>
                <a:cs typeface="Noto Sans SC"/>
                <a:sym typeface="Noto Sans SC"/>
              </a:rPr>
              <a:t>02. 对立所处的哲学定位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4572013" y="37401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559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72000" y="3937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292F36"/>
                </a:solidFill>
                <a:latin typeface="Noto Sans SC"/>
                <a:ea typeface="Noto Sans SC"/>
                <a:cs typeface="Noto Sans SC"/>
                <a:sym typeface="Noto Sans SC"/>
              </a:rPr>
              <a:t>这种非公理与公理的对立，在宏大的哲学范畴中处于什么坐标？它与逻辑与荒谬、理性与非理性等经典哲学对立，又存在着怎样的关联与异同？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3048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9BC2E6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91500" y="3238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36000" y="3200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22844"/>
                </a:solidFill>
                <a:latin typeface="Noto Sans SC"/>
                <a:ea typeface="Noto Sans SC"/>
                <a:cs typeface="Noto Sans SC"/>
                <a:sym typeface="Noto Sans SC"/>
              </a:rPr>
              <a:t>03. 构建对立的实践路径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323">
            <a:off x="8191513" y="37401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0406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191500" y="3937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1E2328"/>
                </a:solidFill>
                <a:latin typeface="Noto Sans SC"/>
                <a:ea typeface="Noto Sans SC"/>
                <a:cs typeface="Noto Sans SC"/>
                <a:sym typeface="Noto Sans SC"/>
              </a:rPr>
              <a:t>若我们接受“生态对立”的核心思路，那么在具体的学术与实践中，应当建立何种工具、遵循何种路径，来将这种抽象的对立关系转化为可操作的分析框架？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461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D9E5F2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62000" y="5461000"/>
            <a:ext cx="50800" cy="9525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16000" y="5588000"/>
            <a:ext cx="1003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4E79"/>
                </a:solidFill>
                <a:latin typeface="Noto Sans SC"/>
                <a:ea typeface="Noto Sans SC"/>
                <a:cs typeface="Noto Sans SC"/>
                <a:sym typeface="Noto Sans SC"/>
              </a:rPr>
              <a:t>本章目标：</a:t>
            </a:r>
            <a:r>
              <a:rPr lang="en-US" sz="1400" b="0" i="0" u="none" strike="noStrike">
                <a:solidFill>
                  <a:srgbClr val="292F3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系统性梳理定义方法论的转向、明确其哲学坐标系，并探索围绕“生态对立”构建“非公理”体系的具体实施工具与路径，为后续理论展开奠定基础。</a:t>
            </a:r>
            <a:endParaRPr lang="en-US" sz="110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66B89D85-49F8-E21D-CF8F-58CD755ECE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12500" y="338862"/>
            <a:ext cx="601962" cy="6208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EBF5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D4E89"/>
                </a:solidFill>
                <a:latin typeface="Noto Sans SC"/>
                <a:ea typeface="Noto Sans SC"/>
                <a:cs typeface="Noto Sans SC"/>
                <a:sym typeface="Noto Sans SC"/>
              </a:rPr>
              <a:t>问题1——传统定义方法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在探讨新方法之前，我们先回顾一下传统上构建“对立”概念的三种主要方法，分析它们的原理和局限性，为后续提出系统性方案提供参照。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279650"/>
            <a:ext cx="10668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540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t="316" b="316"/>
          <a:stretch>
            <a:fillRect/>
          </a:stretch>
        </p:blipFill>
        <p:spPr>
          <a:xfrm>
            <a:off x="952500" y="27305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2095500" y="2730500"/>
            <a:ext cx="196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形式逻辑求否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对命题或概念直接进行逻辑否定（求反），是构建对立最基础的逻辑手段。</a:t>
            </a:r>
          </a:p>
        </p:txBody>
      </p:sp>
      <p:cxnSp>
        <p:nvCxnSpPr>
          <p:cNvPr id="9" name="Connector 9"/>
          <p:cNvCxnSpPr/>
          <p:nvPr/>
        </p:nvCxnSpPr>
        <p:spPr>
          <a:xfrm rot="-14323">
            <a:off x="952513" y="39306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4064000"/>
            <a:ext cx="3048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局限性：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仅适用于已充分形式化的范围。对于复杂、模糊或语境依赖的概念，简单求否往往会产生歧义，无法准确构建有效的对立关系。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381500" y="2540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 l="669" r="669"/>
          <a:stretch>
            <a:fillRect/>
          </a:stretch>
        </p:blipFill>
        <p:spPr>
          <a:xfrm>
            <a:off x="4572000" y="27305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5715000" y="2730500"/>
            <a:ext cx="196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黑格尔辩证法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认为事物内含矛盾（正题与反题），通过斗争融合，产生更高层次的“合题”。</a:t>
            </a:r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4572013" y="39306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72000" y="4064000"/>
            <a:ext cx="3048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局限性：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过度依赖事物内部矛盾的自然显现，缺乏主动性。在面对需要人为、有目的地构建对立面的场景时，难以提供具体的操作路径和方法。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001000" y="2540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191500" y="27305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9334500" y="2730500"/>
            <a:ext cx="196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实用主义外部引入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从外部引入截然不同的方法或理论，通过比较和竞争，来凸显现有体系的对立。</a:t>
            </a:r>
          </a:p>
        </p:txBody>
      </p:sp>
      <p:cxnSp>
        <p:nvCxnSpPr>
          <p:cNvPr id="19" name="Connector 19"/>
          <p:cNvCxnSpPr/>
          <p:nvPr/>
        </p:nvCxnSpPr>
        <p:spPr>
          <a:xfrm rot="-14323">
            <a:off x="8191513" y="39306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191500" y="4064000"/>
            <a:ext cx="3048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局限性：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带有较强的盲目性和偶然性，引入的外部理论未必能形成有效对立，且缺乏系统性筛选和构建的机制，整体效率较低。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62000" y="5842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DBEAFE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62000" y="5842000"/>
            <a:ext cx="50800" cy="762000"/>
          </a:xfrm>
          <a:prstGeom prst="roundRect">
            <a:avLst>
              <a:gd name="adj" fmla="val 0"/>
            </a:avLst>
          </a:prstGeom>
          <a:solidFill>
            <a:srgbClr val="1E40A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52500" y="5905500"/>
            <a:ext cx="1028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总结与反思：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传统方法各有利弊，单独使用时都难以系统性地处理“非公理”这样复杂的对立构建任务，这也正是我们需要探索新方法论的根本原因。</a:t>
            </a:r>
            <a:endParaRPr lang="en-US" sz="110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4367F5F8-CC5D-E6D9-EA5B-AB68541E23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12500" y="338862"/>
            <a:ext cx="601962" cy="6208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EBF5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F5597"/>
                </a:solidFill>
                <a:latin typeface="Noto Sans SC"/>
                <a:ea typeface="Noto Sans SC"/>
                <a:cs typeface="Noto Sans SC"/>
                <a:sym typeface="Noto Sans SC"/>
              </a:rPr>
              <a:t>问题 1——生态定义方法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DBEAF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我们提出一种新的定义策略——“生态定义”。它不试图一次性给出完美定义，而是通过构建包含所有相关理论和方法的“生态系统”，来动态理解和定位“非公理”的内涵与边界。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BDD7E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365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3274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559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核心思路：范式生态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323">
            <a:off x="952513" y="38671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DD7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4064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将形式逻辑、辩证法、实用主义等传统方法统一纳入“范式生态”框架，打破单一理论的局限，实现多元视角的有机融合。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317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BDD7E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0" y="3365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016500" y="33274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559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核心工具：范式管理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323">
            <a:off x="4572013" y="38671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DD7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572000" y="4064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通过“范式管理工具”追踪、组织、比较和演化对立的理论方法，为多元观点提供标准化的协作与演进机制。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01000" y="317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BDD7E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91500" y="3365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636000" y="33274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559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关键特征：辩证统一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8191513" y="38671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DD7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91500" y="4064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兼具系统性与开放性的优势，但也面临实现难度高、资源需求大的挑战，是一种高投入高回报的探索路径。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461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DBEAF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2000" y="5461000"/>
            <a:ext cx="76200" cy="9525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016000" y="5588000"/>
            <a:ext cx="1016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2F5597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生态定义不是要替代传统方法，而是为它们提供一个智能的“操作系统”，让我们能够更灵活、更动态地在复杂的理论网络中探索“非公理”的深层内涵。</a:t>
            </a:r>
            <a:endParaRPr lang="en-US" sz="110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41567A40-7715-B1C4-0F02-F559DFF4464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12500" y="338862"/>
            <a:ext cx="601962" cy="6208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EFF6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问题 2——对立定位与哲学树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为了更清晰地理解“非公理”的位置，我们可以想象一棵完整的“哲学树”，思考“公理与非公理”这一对立应该挂在树的哪个枝丫上，进而探索其理论坐标。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660650"/>
            <a:ext cx="10668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857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关键发现：“公理与非公理”和“逻辑与荒谬”是两对相互独立的哲学范畴。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810000"/>
            <a:ext cx="5270500" cy="1143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000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937000"/>
            <a:ext cx="425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公理 + 逻辑 → 范式管理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这是主流理论领域的核心，即运用严谨的逻辑工具，对既有的公理体系进行规范化的梳理、验证与管理。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86500" y="3810000"/>
            <a:ext cx="5270500" cy="1143000"/>
          </a:xfrm>
          <a:prstGeom prst="roundRect">
            <a:avLst>
              <a:gd name="adj" fmla="val 0"/>
            </a:avLst>
          </a:prstGeom>
          <a:solidFill>
            <a:srgbClr val="BFDBFE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000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048500" y="3937000"/>
            <a:ext cx="425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公理 + 荒谬 → 荒谬方法论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在稳固的公理体系框架内，主动引入“荒谬”元素作为刺激因子，打破思维定式，以此激发突破性的创造力与新视角。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207000"/>
            <a:ext cx="5270500" cy="1143000"/>
          </a:xfrm>
          <a:prstGeom prst="roundRect">
            <a:avLst>
              <a:gd name="adj" fmla="val 0"/>
            </a:avLst>
          </a:prstGeom>
          <a:solidFill>
            <a:srgbClr val="93C5FD">
              <a:alpha val="100000"/>
            </a:srgbClr>
          </a:solidFill>
          <a:ln w="12700" cap="flat" cmpd="sng">
            <a:solidFill>
              <a:srgbClr val="60A5F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397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5334000"/>
            <a:ext cx="425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非公理 + 逻辑 → 非公理本质特征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运用逻辑分析的方法，去解构和构建非公理体系，精准界定其边界、运作规则与核心本质特征。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86500" y="5207000"/>
            <a:ext cx="5270500" cy="11430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5397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5334000"/>
            <a:ext cx="425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非公理 + 荒谬 → 排他性转化为通用性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将非公理体系中的荒谬、特殊元素进行转化，提炼出具有普遍解释力的理论内核，拓展其适用范围。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9F15916-27ED-0935-E0D0-327BE26BDCC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12500" y="338862"/>
            <a:ext cx="601962" cy="6208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EBF5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969B0"/>
                </a:solidFill>
                <a:latin typeface="Noto Sans SC"/>
                <a:ea typeface="Noto Sans SC"/>
                <a:cs typeface="Noto Sans SC"/>
                <a:sym typeface="Noto Sans SC"/>
              </a:rPr>
              <a:t>问题 3——两个层级的建立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围绕“生态对立”的核心思路，我们将方法的建立拆解为两个递进的关键层级，从基础工具的构建到具体生态的运行，形成完整的闭环体系。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5207000" cy="2667000"/>
          </a:xfrm>
          <a:prstGeom prst="roundRect">
            <a:avLst>
              <a:gd name="adj" fmla="val 0"/>
            </a:avLst>
          </a:prstGeom>
          <a:solidFill>
            <a:srgbClr val="DEEBF7">
              <a:alpha val="90000"/>
            </a:srgbClr>
          </a:solidFill>
          <a:ln w="12700" cap="flat" cmpd="sng">
            <a:solidFill>
              <a:srgbClr val="9DC3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730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C4F89"/>
                </a:solidFill>
                <a:latin typeface="Noto Sans SC"/>
                <a:ea typeface="Noto Sans SC"/>
                <a:cs typeface="Noto Sans SC"/>
                <a:sym typeface="Noto Sans SC"/>
              </a:rPr>
              <a:t>01. 完善范式管理工具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046">
            <a:off x="952508" y="3295650"/>
            <a:ext cx="482601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34925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969B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打造功能完备的“工具箱”，涵盖方法解释与信息记录两大核心模块。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2969B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关键作用：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为上层生态建设提供底层的方法论支撑与标准化的数据管理能力，是整个体系运转的基石。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2540000"/>
            <a:ext cx="5207000" cy="2667000"/>
          </a:xfrm>
          <a:prstGeom prst="roundRect">
            <a:avLst>
              <a:gd name="adj" fmla="val 0"/>
            </a:avLst>
          </a:prstGeom>
          <a:solidFill>
            <a:srgbClr val="BDD7EE">
              <a:alpha val="90000"/>
            </a:srgbClr>
          </a:solidFill>
          <a:ln w="12700" cap="flat" cmpd="sng">
            <a:solidFill>
              <a:srgbClr val="5B9BD5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13500" y="2730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54360"/>
                </a:solidFill>
                <a:latin typeface="Noto Sans SC"/>
                <a:ea typeface="Noto Sans SC"/>
                <a:cs typeface="Noto Sans SC"/>
                <a:sym typeface="Noto Sans SC"/>
              </a:rPr>
              <a:t>02. 具体的对立生态建设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046">
            <a:off x="6413508" y="3295650"/>
            <a:ext cx="482601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B9BD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13500" y="34925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436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利用工具构建并实际运行“非公理”与“公理”的动态对立生态，在实践中验证与迭代方法。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15436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关键功能：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实现运行时环境隔离、全链路方法追踪、状态实时同步与管理，确保生态系统的稳定与可控。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461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DEEBF7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52500" y="5588000"/>
            <a:ext cx="1028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2969B0"/>
                </a:solidFill>
                <a:latin typeface="Noto Sans SC"/>
                <a:ea typeface="Noto Sans SC"/>
                <a:cs typeface="Noto Sans SC"/>
                <a:sym typeface="Noto Sans SC"/>
              </a:rPr>
              <a:t>最终愿景：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这正是“庞杂系统”（Complex System）的设计初衷——充分认知工作的复杂性与庞杂性，必须依托计算机工具实现流程的自动化、管理的系统化，从而高效处理海量信息与动态对立关系。</a:t>
            </a:r>
            <a:endParaRPr lang="en-US" sz="110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5EDE1BA-FECB-D380-3D8D-604BC7169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2500" y="338862"/>
            <a:ext cx="601962" cy="6208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EFF6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问题3——范式管理工具设计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范式管理工具是整个体系的核心，它的设计需要兼顾表达能力、数据管理和运行时效率，实现哲学方法向系统逻辑的转化与落地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279650"/>
            <a:ext cx="10668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5778500"/>
            <a:ext cx="431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图示：计算机系统结构模型，展示了从计算核心到存储与IO设备的完整逻辑架构，为范式管理工具提供底层参考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cxnSp>
        <p:nvCxnSpPr>
          <p:cNvPr id="8" name="Connector 8"/>
          <p:cNvCxnSpPr/>
          <p:nvPr/>
        </p:nvCxnSpPr>
        <p:spPr>
          <a:xfrm rot="5388145">
            <a:off x="3746489" y="4502172"/>
            <a:ext cx="368302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5842000" y="2667000"/>
            <a:ext cx="1854200" cy="3048000"/>
          </a:xfrm>
          <a:prstGeom prst="roundRect">
            <a:avLst>
              <a:gd name="adj" fmla="val 0"/>
            </a:avLst>
          </a:prstGeom>
          <a:solidFill>
            <a:srgbClr val="DBEAF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9000" y="2857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413500" y="2857500"/>
            <a:ext cx="1206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方法解释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27282">
            <a:off x="5969025" y="3422650"/>
            <a:ext cx="16002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5969000" y="3619500"/>
            <a:ext cx="160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构建通用表达形式，将哲学方法、逻辑规则转化为系统可理解的格式。支持脚本语言编写或可视化图形化编辑模式，降低使用门槛。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899400" y="2667000"/>
            <a:ext cx="1854200" cy="3048000"/>
          </a:xfrm>
          <a:prstGeom prst="roundRect">
            <a:avLst>
              <a:gd name="adj" fmla="val 0"/>
            </a:avLst>
          </a:prstGeom>
          <a:solidFill>
            <a:srgbClr val="DBEAF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26400" y="2857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470900" y="2857500"/>
            <a:ext cx="1206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信息记录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27282">
            <a:off x="8026425" y="3422650"/>
            <a:ext cx="16002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026400" y="3619500"/>
            <a:ext cx="160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完整记录运行过程中的范式信息、执行结果与关键状态。依托强大的数据库管理工具，确保数据的持久化存储与高效检索。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880600" y="2667000"/>
            <a:ext cx="1854200" cy="3048000"/>
          </a:xfrm>
          <a:prstGeom prst="roundRect">
            <a:avLst>
              <a:gd name="adj" fmla="val 0"/>
            </a:avLst>
          </a:prstGeom>
          <a:solidFill>
            <a:srgbClr val="DBEAF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07600" y="2857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0452100" y="2857500"/>
            <a:ext cx="1206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运行时引擎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27282">
            <a:off x="10007625" y="3422650"/>
            <a:ext cx="16002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10007600" y="3619500"/>
            <a:ext cx="160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实现范式的隔离、实时解释与状态追踪。采用自举架构，完美支持人机交互流程，清晰呈现每一步逻辑的运行轨迹。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842000" y="5905500"/>
            <a:ext cx="5892800" cy="571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5969000" y="5969000"/>
            <a:ext cx="56388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总结：通过标准化表达、全链路记录与稳健的运行时引擎，构建闭环的范式管理生态。</a:t>
            </a:r>
            <a:endParaRPr lang="en-US" sz="110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AEF0412F-B457-1151-0A78-539A5A0CBCF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12500" y="338862"/>
            <a:ext cx="601962" cy="62089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0262BC37-06BE-82B8-F6F2-A08792966C6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" t="3542" r="5206" b="13325"/>
          <a:stretch/>
        </p:blipFill>
        <p:spPr>
          <a:xfrm>
            <a:off x="800099" y="2452388"/>
            <a:ext cx="4318000" cy="32626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EFF6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回顾我们探索“非公理”的整条路径，我们从定义的困境出发，辨析了朴素对立与怀疑路线的误区，最终找到了一条可行的、系统性的构建路径。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406650"/>
            <a:ext cx="10668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667000"/>
            <a:ext cx="5270500" cy="762000"/>
          </a:xfrm>
          <a:prstGeom prst="roundRect">
            <a:avLst>
              <a:gd name="adj" fmla="val 0"/>
            </a:avLst>
          </a:prstGeom>
          <a:solidFill>
            <a:srgbClr val="DBEAF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76200" cy="762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27305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01. 奠定基础：公理体系的四个侧面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梳理公理体系的核心维度，为后续“非公理”的反向构建确立了讨论的基准框架。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3683000"/>
            <a:ext cx="5270500" cy="762000"/>
          </a:xfrm>
          <a:prstGeom prst="roundRect">
            <a:avLst>
              <a:gd name="adj" fmla="val 0"/>
            </a:avLst>
          </a:prstGeom>
          <a:solidFill>
            <a:srgbClr val="DBEAF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" y="3683000"/>
            <a:ext cx="76200" cy="762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37465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02. 辨析误区：朴素对立与怀疑路线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揭示简单“不要公理”的朴素信念之谬，明确需对“通用方法”进行根本性怀疑，而非盲目否定。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699000"/>
            <a:ext cx="5270500" cy="762000"/>
          </a:xfrm>
          <a:prstGeom prst="roundRect">
            <a:avLst>
              <a:gd name="adj" fmla="val 0"/>
            </a:avLst>
          </a:prstGeom>
          <a:solidFill>
            <a:srgbClr val="DBEAF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4699000"/>
            <a:ext cx="76200" cy="762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47625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03. 核心定义：拒绝通用，确立独立体系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提出“非公理”并非反公理，而是方法论上的独立体系，需从公理对立面反向构建其核心内涵。</a:t>
            </a:r>
          </a:p>
        </p:txBody>
      </p:sp>
      <p:cxnSp>
        <p:nvCxnSpPr>
          <p:cNvPr id="15" name="Connector 15"/>
          <p:cNvCxnSpPr/>
          <p:nvPr/>
        </p:nvCxnSpPr>
        <p:spPr>
          <a:xfrm rot="5385053">
            <a:off x="4825986" y="4121178"/>
            <a:ext cx="292102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477000" y="2667000"/>
            <a:ext cx="4953000" cy="762000"/>
          </a:xfrm>
          <a:prstGeom prst="roundRect">
            <a:avLst>
              <a:gd name="adj" fmla="val 0"/>
            </a:avLst>
          </a:prstGeom>
          <a:solidFill>
            <a:srgbClr val="DBEAF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77000" y="2667000"/>
            <a:ext cx="762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731000" y="2730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04. 方法论升级：从传统定义到生态定义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摒弃静态、封闭的传统定义模式，引入更具动态性、关联性的生态定义方法论作为理论支撑。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477000" y="3683000"/>
            <a:ext cx="4953000" cy="762000"/>
          </a:xfrm>
          <a:prstGeom prst="roundRect">
            <a:avLst>
              <a:gd name="adj" fmla="val 0"/>
            </a:avLst>
          </a:prstGeom>
          <a:solidFill>
            <a:srgbClr val="DBEAF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77000" y="3683000"/>
            <a:ext cx="762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731000" y="3746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05. 哲学定位：明确两对独立的对立关系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清晰界定“非公理”在哲学版图中的坐标，厘清其与相关概念的边界，确立其独立的理论地位。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477000" y="4699000"/>
            <a:ext cx="4953000" cy="762000"/>
          </a:xfrm>
          <a:prstGeom prst="roundRect">
            <a:avLst>
              <a:gd name="adj" fmla="val 0"/>
            </a:avLst>
          </a:prstGeom>
          <a:solidFill>
            <a:srgbClr val="DBEAF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477000" y="4699000"/>
            <a:ext cx="762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731000" y="4762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06. 实施框架：两个层级的方法建设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搭建宏观与微观相结合的实施框架，设计配套的范式管理工具，让“非公理”体系具备可操作性。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762000" y="58420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6007100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714500" y="5905500"/>
            <a:ext cx="952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最终指向：我们所有的探讨，都汇聚于构建一个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“非公理推理引擎（庞杂系统）”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的宏伟目标，为其奠定坚实的理论基石与实践路径。</a:t>
            </a:r>
            <a:endParaRPr lang="en-US" sz="110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2FAA3EDA-DD35-7312-F441-9922F494F4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12500" y="338862"/>
            <a:ext cx="601962" cy="6208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1635</Words>
  <Application>Microsoft Office PowerPoint</Application>
  <PresentationFormat>宽屏</PresentationFormat>
  <Paragraphs>193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 A</cp:lastModifiedBy>
  <cp:revision>5</cp:revision>
  <dcterms:modified xsi:type="dcterms:W3CDTF">2026-06-27T09:03:24Z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{"Label":"1","ContentProducer":"001191110102MACQD9K64010000","ProduceID":"7655529824124390342","ReservedCode1":"","ContentPropagator":"","PropagateID":"","ReservedCode2":""}</vt:lpwstr>
  </property>
</Properties>
</file>